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2761488"/>
            <a:ext cx="1463040" cy="3810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74519"/>
            <a:ext cx="10058400" cy="1005840"/>
          </a:xfrm>
          <a:prstGeom prst="rect">
            <a:avLst/>
          </a:prstGeom>
          <a:noFill/>
        </p:spPr>
        <p:txBody>
          <a:bodyPr wrap="square" lIns="0" rIns="0" tIns="0" bIns="0">
            <a:spAutoFit/>
          </a:bodyPr>
          <a:lstStyle/>
          <a:p>
            <a:pPr algn="l">
              <a:lnSpc>
                <a:spcPct val="115000"/>
              </a:lnSpc>
            </a:pPr>
            <a:r>
              <a:rPr sz="5400" b="1">
                <a:solidFill>
                  <a:srgbClr val="DCDDE0"/>
                </a:solidFill>
                <a:latin typeface="Segoe UI"/>
              </a:rPr>
              <a:t>CUEVO Lyrics</a:t>
            </a:r>
          </a:p>
        </p:txBody>
      </p:sp>
      <p:sp>
        <p:nvSpPr>
          <p:cNvPr id="4" name="TextBox 3"/>
          <p:cNvSpPr txBox="1"/>
          <p:nvPr/>
        </p:nvSpPr>
        <p:spPr>
          <a:xfrm>
            <a:off x="822960" y="3063240"/>
            <a:ext cx="9144000" cy="822960"/>
          </a:xfrm>
          <a:prstGeom prst="rect">
            <a:avLst/>
          </a:prstGeom>
          <a:noFill/>
        </p:spPr>
        <p:txBody>
          <a:bodyPr wrap="square" lIns="0" rIns="0" tIns="0" bIns="0">
            <a:spAutoFit/>
          </a:bodyPr>
          <a:lstStyle/>
          <a:p>
            <a:pPr algn="l">
              <a:lnSpc>
                <a:spcPct val="130000"/>
              </a:lnSpc>
            </a:pPr>
            <a:r>
              <a:rPr sz="1900" b="0">
                <a:solidFill>
                  <a:srgbClr val="8D9096"/>
                </a:solidFill>
                <a:latin typeface="Segoe UI"/>
              </a:rPr>
              <a:t>Time-synced song lyrics, straight into Resolume Arena over Spout</a:t>
            </a:r>
          </a:p>
        </p:txBody>
      </p:sp>
      <p:sp>
        <p:nvSpPr>
          <p:cNvPr id="5" name="TextBox 4"/>
          <p:cNvSpPr txBox="1"/>
          <p:nvPr/>
        </p:nvSpPr>
        <p:spPr>
          <a:xfrm>
            <a:off x="822960" y="5257800"/>
            <a:ext cx="9144000" cy="914400"/>
          </a:xfrm>
          <a:prstGeom prst="rect">
            <a:avLst/>
          </a:prstGeom>
          <a:noFill/>
        </p:spPr>
        <p:txBody>
          <a:bodyPr wrap="square" lIns="0" rIns="0" tIns="0" bIns="0">
            <a:spAutoFit/>
          </a:bodyPr>
          <a:lstStyle/>
          <a:p>
            <a:pPr algn="l">
              <a:lnSpc>
                <a:spcPct val="170000"/>
              </a:lnSpc>
            </a:pPr>
            <a:r>
              <a:rPr sz="1300" b="0">
                <a:solidFill>
                  <a:srgbClr val="5C5F65"/>
                </a:solidFill>
                <a:latin typeface="Segoe UI"/>
              </a:rPr>
              <a:t>v0.11.0  ·  first public release
MIT licence  ·  github.com/mochaheree/cuevo-lyrics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The problem</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02</a:t>
            </a:r>
          </a:p>
        </p:txBody>
      </p:sp>
      <p:sp>
        <p:nvSpPr>
          <p:cNvPr id="5" name="TextBox 4"/>
          <p:cNvSpPr txBox="1"/>
          <p:nvPr/>
        </p:nvSpPr>
        <p:spPr>
          <a:xfrm>
            <a:off x="685800" y="1280160"/>
            <a:ext cx="9875520" cy="640080"/>
          </a:xfrm>
          <a:prstGeom prst="rect">
            <a:avLst/>
          </a:prstGeom>
          <a:noFill/>
        </p:spPr>
        <p:txBody>
          <a:bodyPr wrap="square" lIns="0" rIns="0" tIns="0" bIns="0">
            <a:spAutoFit/>
          </a:bodyPr>
          <a:lstStyle/>
          <a:p>
            <a:pPr algn="l">
              <a:lnSpc>
                <a:spcPct val="135000"/>
              </a:lnSpc>
            </a:pPr>
            <a:r>
              <a:rPr sz="1700" b="0">
                <a:solidFill>
                  <a:srgbClr val="8D9096"/>
                </a:solidFill>
                <a:latin typeface="Segoe UI"/>
              </a:rPr>
              <a:t>Putting lyrics on a live screen usually means one of two bad options.</a:t>
            </a:r>
          </a:p>
        </p:txBody>
      </p:sp>
      <p:sp>
        <p:nvSpPr>
          <p:cNvPr id="6" name="Rectangle 5"/>
          <p:cNvSpPr/>
          <p:nvPr/>
        </p:nvSpPr>
        <p:spPr>
          <a:xfrm>
            <a:off x="685800" y="2377440"/>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Pre-rendered video</a:t>
            </a:r>
          </a:p>
        </p:txBody>
      </p:sp>
      <p:sp>
        <p:nvSpPr>
          <p:cNvPr id="8" name="TextBox 7"/>
          <p:cNvSpPr txBox="1"/>
          <p:nvPr/>
        </p:nvSpPr>
        <p:spPr>
          <a:xfrm>
            <a:off x="1005840" y="2670048"/>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Every song becomes a render job. Change the set list an hour before doors and you are re-exporting.</a:t>
            </a:r>
          </a:p>
        </p:txBody>
      </p:sp>
      <p:sp>
        <p:nvSpPr>
          <p:cNvPr id="9" name="Rectangle 8"/>
          <p:cNvSpPr/>
          <p:nvPr/>
        </p:nvSpPr>
        <p:spPr>
          <a:xfrm>
            <a:off x="685800" y="3611880"/>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20440"/>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Type it live</a:t>
            </a:r>
          </a:p>
        </p:txBody>
      </p:sp>
      <p:sp>
        <p:nvSpPr>
          <p:cNvPr id="11" name="TextBox 10"/>
          <p:cNvSpPr txBox="1"/>
          <p:nvPr/>
        </p:nvSpPr>
        <p:spPr>
          <a:xfrm>
            <a:off x="1005840" y="3904488"/>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Someone is typing into a text source while the band plays. It shows.</a:t>
            </a:r>
          </a:p>
        </p:txBody>
      </p:sp>
      <p:sp>
        <p:nvSpPr>
          <p:cNvPr id="12" name="Rectangle 11"/>
          <p:cNvSpPr/>
          <p:nvPr/>
        </p:nvSpPr>
        <p:spPr>
          <a:xfrm>
            <a:off x="685800" y="4846320"/>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754880"/>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Presentation software</a:t>
            </a:r>
          </a:p>
        </p:txBody>
      </p:sp>
      <p:sp>
        <p:nvSpPr>
          <p:cNvPr id="14" name="TextBox 13"/>
          <p:cNvSpPr txBox="1"/>
          <p:nvPr/>
        </p:nvSpPr>
        <p:spPr>
          <a:xfrm>
            <a:off x="1005840" y="5138928"/>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Built for slides, not for a VJ rig. Getting it into Resolume with real alpha is a fight.</a:t>
            </a:r>
          </a:p>
        </p:txBody>
      </p:sp>
      <p:sp>
        <p:nvSpPr>
          <p:cNvPr id="15" name="Rectangle 14"/>
          <p:cNvSpPr/>
          <p:nvPr/>
        </p:nvSpPr>
        <p:spPr>
          <a:xfrm>
            <a:off x="685800" y="6080760"/>
            <a:ext cx="10789920" cy="9525"/>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309360"/>
            <a:ext cx="10515600" cy="640080"/>
          </a:xfrm>
          <a:prstGeom prst="rect">
            <a:avLst/>
          </a:prstGeom>
          <a:noFill/>
        </p:spPr>
        <p:txBody>
          <a:bodyPr wrap="square" lIns="0" rIns="0" tIns="0" bIns="0">
            <a:spAutoFit/>
          </a:bodyPr>
          <a:lstStyle/>
          <a:p>
            <a:pPr algn="l">
              <a:lnSpc>
                <a:spcPct val="135000"/>
              </a:lnSpc>
            </a:pPr>
            <a:r>
              <a:rPr sz="1250" b="0">
                <a:solidFill>
                  <a:srgbClr val="5C5F65"/>
                </a:solidFill>
                <a:latin typeface="Segoe UI"/>
              </a:rPr>
              <a:t>CUEVO Lyrics does the third thing properly: a lyrics engine that speaks Resolume natively.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What it is</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03</a:t>
            </a:r>
          </a:p>
        </p:txBody>
      </p:sp>
      <p:sp>
        <p:nvSpPr>
          <p:cNvPr id="5" name="TextBox 4"/>
          <p:cNvSpPr txBox="1"/>
          <p:nvPr/>
        </p:nvSpPr>
        <p:spPr>
          <a:xfrm>
            <a:off x="685800" y="1280160"/>
            <a:ext cx="9875520" cy="640080"/>
          </a:xfrm>
          <a:prstGeom prst="rect">
            <a:avLst/>
          </a:prstGeom>
          <a:noFill/>
        </p:spPr>
        <p:txBody>
          <a:bodyPr wrap="square" lIns="0" rIns="0" tIns="0" bIns="0">
            <a:spAutoFit/>
          </a:bodyPr>
          <a:lstStyle/>
          <a:p>
            <a:pPr algn="l">
              <a:lnSpc>
                <a:spcPct val="135000"/>
              </a:lnSpc>
            </a:pPr>
            <a:r>
              <a:rPr sz="1700" b="0">
                <a:solidFill>
                  <a:srgbClr val="8D9096"/>
                </a:solidFill>
                <a:latin typeface="Segoe UI"/>
              </a:rPr>
              <a:t>A desktop app that renders lyrics and hands them to Resolume as a Spout source with real transparency.</a:t>
            </a:r>
          </a:p>
        </p:txBody>
      </p:sp>
      <p:sp>
        <p:nvSpPr>
          <p:cNvPr id="6" name="Rectangle 5"/>
          <p:cNvSpPr/>
          <p:nvPr/>
        </p:nvSpPr>
        <p:spPr>
          <a:xfrm>
            <a:off x="685800" y="2377440"/>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Search or write</a:t>
            </a:r>
          </a:p>
        </p:txBody>
      </p:sp>
      <p:sp>
        <p:nvSpPr>
          <p:cNvPr id="8" name="TextBox 7"/>
          <p:cNvSpPr txBox="1"/>
          <p:nvPr/>
        </p:nvSpPr>
        <p:spPr>
          <a:xfrm>
            <a:off x="1005840" y="2670048"/>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Pull synced lyrics from LRCLIB, import .lrc, or time them yourself with a tap-to-timestamp editor.</a:t>
            </a:r>
          </a:p>
        </p:txBody>
      </p:sp>
      <p:sp>
        <p:nvSpPr>
          <p:cNvPr id="9" name="Rectangle 8"/>
          <p:cNvSpPr/>
          <p:nvPr/>
        </p:nvSpPr>
        <p:spPr>
          <a:xfrm>
            <a:off x="685800" y="3401568"/>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10128"/>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Build the set</a:t>
            </a:r>
          </a:p>
        </p:txBody>
      </p:sp>
      <p:sp>
        <p:nvSpPr>
          <p:cNvPr id="11" name="TextBox 10"/>
          <p:cNvSpPr txBox="1"/>
          <p:nvPr/>
        </p:nvSpPr>
        <p:spPr>
          <a:xfrm>
            <a:off x="1005840" y="3694176"/>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Order the songs, save the show, reopen it next week.</a:t>
            </a:r>
          </a:p>
        </p:txBody>
      </p:sp>
      <p:sp>
        <p:nvSpPr>
          <p:cNvPr id="12" name="Rectangle 11"/>
          <p:cNvSpPr/>
          <p:nvPr/>
        </p:nvSpPr>
        <p:spPr>
          <a:xfrm>
            <a:off x="685800" y="4425696"/>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Style it once</a:t>
            </a:r>
          </a:p>
        </p:txBody>
      </p:sp>
      <p:sp>
        <p:nvSpPr>
          <p:cNvPr id="14" name="TextBox 13"/>
          <p:cNvSpPr txBox="1"/>
          <p:nvPr/>
        </p:nvSpPr>
        <p:spPr>
          <a:xfrm>
            <a:off x="1005840" y="4718304"/>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Font, size, colour, outline, scroll behaviour, transitions. Save as a template.</a:t>
            </a:r>
          </a:p>
        </p:txBody>
      </p:sp>
      <p:sp>
        <p:nvSpPr>
          <p:cNvPr id="15" name="Rectangle 14"/>
          <p:cNvSpPr/>
          <p:nvPr/>
        </p:nvSpPr>
        <p:spPr>
          <a:xfrm>
            <a:off x="685800" y="5449824"/>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358384"/>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Run the show</a:t>
            </a:r>
          </a:p>
        </p:txBody>
      </p:sp>
      <p:sp>
        <p:nvSpPr>
          <p:cNvPr id="17" name="TextBox 16"/>
          <p:cNvSpPr txBox="1"/>
          <p:nvPr/>
        </p:nvSpPr>
        <p:spPr>
          <a:xfrm>
            <a:off x="1005840" y="5742432"/>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Play, pause, nudge the sync, blank the output. Keyboard, OSC, or MIDI.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How it works</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04</a:t>
            </a:r>
          </a:p>
        </p:txBody>
      </p:sp>
      <p:sp>
        <p:nvSpPr>
          <p:cNvPr id="5" name="Rectangle 4"/>
          <p:cNvSpPr/>
          <p:nvPr/>
        </p:nvSpPr>
        <p:spPr>
          <a:xfrm>
            <a:off x="685800" y="1371600"/>
            <a:ext cx="10789920" cy="621792"/>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71600"/>
            <a:ext cx="28575" cy="621792"/>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45336"/>
            <a:ext cx="457200" cy="274320"/>
          </a:xfrm>
          <a:prstGeom prst="rect">
            <a:avLst/>
          </a:prstGeom>
          <a:noFill/>
        </p:spPr>
        <p:txBody>
          <a:bodyPr wrap="square" lIns="0" rIns="0" tIns="0" bIns="0">
            <a:spAutoFit/>
          </a:bodyPr>
          <a:lstStyle/>
          <a:p>
            <a:pPr algn="l">
              <a:lnSpc>
                <a:spcPct val="115000"/>
              </a:lnSpc>
            </a:pPr>
            <a:r>
              <a:rPr sz="1400" b="1">
                <a:solidFill>
                  <a:srgbClr val="41B883"/>
                </a:solidFill>
                <a:latin typeface="Segoe UI"/>
              </a:rPr>
              <a:t>1</a:t>
            </a:r>
          </a:p>
        </p:txBody>
      </p:sp>
      <p:sp>
        <p:nvSpPr>
          <p:cNvPr id="8" name="TextBox 7"/>
          <p:cNvSpPr txBox="1"/>
          <p:nvPr/>
        </p:nvSpPr>
        <p:spPr>
          <a:xfrm>
            <a:off x="1463040" y="1536192"/>
            <a:ext cx="5486400" cy="310896"/>
          </a:xfrm>
          <a:prstGeom prst="rect">
            <a:avLst/>
          </a:prstGeom>
          <a:noFill/>
        </p:spPr>
        <p:txBody>
          <a:bodyPr wrap="square" lIns="0" rIns="0" tIns="0" bIns="0">
            <a:spAutoFit/>
          </a:bodyPr>
          <a:lstStyle/>
          <a:p>
            <a:pPr algn="l">
              <a:lnSpc>
                <a:spcPct val="115000"/>
              </a:lnSpc>
            </a:pPr>
            <a:r>
              <a:rPr sz="1500" b="1">
                <a:solidFill>
                  <a:srgbClr val="DCDDE0"/>
                </a:solidFill>
                <a:latin typeface="Segoe UI"/>
              </a:rPr>
              <a:t>LRCLIB / local library / manual editor</a:t>
            </a:r>
          </a:p>
        </p:txBody>
      </p:sp>
      <p:sp>
        <p:nvSpPr>
          <p:cNvPr id="9" name="TextBox 8"/>
          <p:cNvSpPr txBox="1"/>
          <p:nvPr/>
        </p:nvSpPr>
        <p:spPr>
          <a:xfrm>
            <a:off x="6949440" y="1554480"/>
            <a:ext cx="4389120" cy="274320"/>
          </a:xfrm>
          <a:prstGeom prst="rect">
            <a:avLst/>
          </a:prstGeom>
          <a:noFill/>
        </p:spPr>
        <p:txBody>
          <a:bodyPr wrap="square" lIns="0" rIns="0" tIns="0" bIns="0">
            <a:spAutoFit/>
          </a:bodyPr>
          <a:lstStyle/>
          <a:p>
            <a:pPr algn="l">
              <a:lnSpc>
                <a:spcPct val="115000"/>
              </a:lnSpc>
            </a:pPr>
            <a:r>
              <a:rPr sz="1250" b="0">
                <a:solidFill>
                  <a:srgbClr val="5C5F65"/>
                </a:solidFill>
                <a:latin typeface="Segoe UI"/>
              </a:rPr>
              <a:t>where the words come from</a:t>
            </a:r>
          </a:p>
        </p:txBody>
      </p:sp>
      <p:sp>
        <p:nvSpPr>
          <p:cNvPr id="10" name="Rectangle 9"/>
          <p:cNvSpPr/>
          <p:nvPr/>
        </p:nvSpPr>
        <p:spPr>
          <a:xfrm>
            <a:off x="685800" y="2130552"/>
            <a:ext cx="10789920" cy="621792"/>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130552"/>
            <a:ext cx="28575" cy="621792"/>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304288"/>
            <a:ext cx="457200" cy="274320"/>
          </a:xfrm>
          <a:prstGeom prst="rect">
            <a:avLst/>
          </a:prstGeom>
          <a:noFill/>
        </p:spPr>
        <p:txBody>
          <a:bodyPr wrap="square" lIns="0" rIns="0" tIns="0" bIns="0">
            <a:spAutoFit/>
          </a:bodyPr>
          <a:lstStyle/>
          <a:p>
            <a:pPr algn="l">
              <a:lnSpc>
                <a:spcPct val="115000"/>
              </a:lnSpc>
            </a:pPr>
            <a:r>
              <a:rPr sz="1400" b="1">
                <a:solidFill>
                  <a:srgbClr val="41B883"/>
                </a:solidFill>
                <a:latin typeface="Segoe UI"/>
              </a:rPr>
              <a:t>2</a:t>
            </a:r>
          </a:p>
        </p:txBody>
      </p:sp>
      <p:sp>
        <p:nvSpPr>
          <p:cNvPr id="13" name="TextBox 12"/>
          <p:cNvSpPr txBox="1"/>
          <p:nvPr/>
        </p:nvSpPr>
        <p:spPr>
          <a:xfrm>
            <a:off x="1463040" y="2295144"/>
            <a:ext cx="5486400" cy="310896"/>
          </a:xfrm>
          <a:prstGeom prst="rect">
            <a:avLst/>
          </a:prstGeom>
          <a:noFill/>
        </p:spPr>
        <p:txBody>
          <a:bodyPr wrap="square" lIns="0" rIns="0" tIns="0" bIns="0">
            <a:spAutoFit/>
          </a:bodyPr>
          <a:lstStyle/>
          <a:p>
            <a:pPr algn="l">
              <a:lnSpc>
                <a:spcPct val="115000"/>
              </a:lnSpc>
            </a:pPr>
            <a:r>
              <a:rPr sz="1500" b="1">
                <a:solidFill>
                  <a:srgbClr val="DCDDE0"/>
                </a:solidFill>
                <a:latin typeface="Segoe UI"/>
              </a:rPr>
              <a:t>LRC parser</a:t>
            </a:r>
          </a:p>
        </p:txBody>
      </p:sp>
      <p:sp>
        <p:nvSpPr>
          <p:cNvPr id="14" name="TextBox 13"/>
          <p:cNvSpPr txBox="1"/>
          <p:nvPr/>
        </p:nvSpPr>
        <p:spPr>
          <a:xfrm>
            <a:off x="6949440" y="2313432"/>
            <a:ext cx="4389120" cy="274320"/>
          </a:xfrm>
          <a:prstGeom prst="rect">
            <a:avLst/>
          </a:prstGeom>
          <a:noFill/>
        </p:spPr>
        <p:txBody>
          <a:bodyPr wrap="square" lIns="0" rIns="0" tIns="0" bIns="0">
            <a:spAutoFit/>
          </a:bodyPr>
          <a:lstStyle/>
          <a:p>
            <a:pPr algn="l">
              <a:lnSpc>
                <a:spcPct val="115000"/>
              </a:lnSpc>
            </a:pPr>
            <a:r>
              <a:rPr sz="1250" b="0">
                <a:solidFill>
                  <a:srgbClr val="5C5F65"/>
                </a:solidFill>
                <a:latin typeface="Segoe UI"/>
              </a:rPr>
              <a:t>lines plus timestamps</a:t>
            </a:r>
          </a:p>
        </p:txBody>
      </p:sp>
      <p:sp>
        <p:nvSpPr>
          <p:cNvPr id="15" name="Rectangle 14"/>
          <p:cNvSpPr/>
          <p:nvPr/>
        </p:nvSpPr>
        <p:spPr>
          <a:xfrm>
            <a:off x="685800" y="2889504"/>
            <a:ext cx="10789920" cy="621792"/>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2889504"/>
            <a:ext cx="28575" cy="621792"/>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063240"/>
            <a:ext cx="457200" cy="274320"/>
          </a:xfrm>
          <a:prstGeom prst="rect">
            <a:avLst/>
          </a:prstGeom>
          <a:noFill/>
        </p:spPr>
        <p:txBody>
          <a:bodyPr wrap="square" lIns="0" rIns="0" tIns="0" bIns="0">
            <a:spAutoFit/>
          </a:bodyPr>
          <a:lstStyle/>
          <a:p>
            <a:pPr algn="l">
              <a:lnSpc>
                <a:spcPct val="115000"/>
              </a:lnSpc>
            </a:pPr>
            <a:r>
              <a:rPr sz="1400" b="1">
                <a:solidFill>
                  <a:srgbClr val="41B883"/>
                </a:solidFill>
                <a:latin typeface="Segoe UI"/>
              </a:rPr>
              <a:t>3</a:t>
            </a:r>
          </a:p>
        </p:txBody>
      </p:sp>
      <p:sp>
        <p:nvSpPr>
          <p:cNvPr id="18" name="TextBox 17"/>
          <p:cNvSpPr txBox="1"/>
          <p:nvPr/>
        </p:nvSpPr>
        <p:spPr>
          <a:xfrm>
            <a:off x="1463040" y="3054096"/>
            <a:ext cx="5486400" cy="310896"/>
          </a:xfrm>
          <a:prstGeom prst="rect">
            <a:avLst/>
          </a:prstGeom>
          <a:noFill/>
        </p:spPr>
        <p:txBody>
          <a:bodyPr wrap="square" lIns="0" rIns="0" tIns="0" bIns="0">
            <a:spAutoFit/>
          </a:bodyPr>
          <a:lstStyle/>
          <a:p>
            <a:pPr algn="l">
              <a:lnSpc>
                <a:spcPct val="115000"/>
              </a:lnSpc>
            </a:pPr>
            <a:r>
              <a:rPr sz="1500" b="1">
                <a:solidFill>
                  <a:srgbClr val="DCDDE0"/>
                </a:solidFill>
                <a:latin typeface="Segoe UI"/>
              </a:rPr>
              <a:t>Show</a:t>
            </a:r>
          </a:p>
        </p:txBody>
      </p:sp>
      <p:sp>
        <p:nvSpPr>
          <p:cNvPr id="19" name="TextBox 18"/>
          <p:cNvSpPr txBox="1"/>
          <p:nvPr/>
        </p:nvSpPr>
        <p:spPr>
          <a:xfrm>
            <a:off x="6949440" y="3072384"/>
            <a:ext cx="4389120" cy="274320"/>
          </a:xfrm>
          <a:prstGeom prst="rect">
            <a:avLst/>
          </a:prstGeom>
          <a:noFill/>
        </p:spPr>
        <p:txBody>
          <a:bodyPr wrap="square" lIns="0" rIns="0" tIns="0" bIns="0">
            <a:spAutoFit/>
          </a:bodyPr>
          <a:lstStyle/>
          <a:p>
            <a:pPr algn="l">
              <a:lnSpc>
                <a:spcPct val="115000"/>
              </a:lnSpc>
            </a:pPr>
            <a:r>
              <a:rPr sz="1250" b="0">
                <a:solidFill>
                  <a:srgbClr val="5C5F65"/>
                </a:solidFill>
                <a:latin typeface="Segoe UI"/>
              </a:rPr>
              <a:t>the running order</a:t>
            </a:r>
          </a:p>
        </p:txBody>
      </p:sp>
      <p:sp>
        <p:nvSpPr>
          <p:cNvPr id="20" name="Rectangle 19"/>
          <p:cNvSpPr/>
          <p:nvPr/>
        </p:nvSpPr>
        <p:spPr>
          <a:xfrm>
            <a:off x="685800" y="3648456"/>
            <a:ext cx="10789920" cy="621792"/>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3648456"/>
            <a:ext cx="28575" cy="621792"/>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822192"/>
            <a:ext cx="457200" cy="274320"/>
          </a:xfrm>
          <a:prstGeom prst="rect">
            <a:avLst/>
          </a:prstGeom>
          <a:noFill/>
        </p:spPr>
        <p:txBody>
          <a:bodyPr wrap="square" lIns="0" rIns="0" tIns="0" bIns="0">
            <a:spAutoFit/>
          </a:bodyPr>
          <a:lstStyle/>
          <a:p>
            <a:pPr algn="l">
              <a:lnSpc>
                <a:spcPct val="115000"/>
              </a:lnSpc>
            </a:pPr>
            <a:r>
              <a:rPr sz="1400" b="1">
                <a:solidFill>
                  <a:srgbClr val="41B883"/>
                </a:solidFill>
                <a:latin typeface="Segoe UI"/>
              </a:rPr>
              <a:t>4</a:t>
            </a:r>
          </a:p>
        </p:txBody>
      </p:sp>
      <p:sp>
        <p:nvSpPr>
          <p:cNvPr id="23" name="TextBox 22"/>
          <p:cNvSpPr txBox="1"/>
          <p:nvPr/>
        </p:nvSpPr>
        <p:spPr>
          <a:xfrm>
            <a:off x="1463040" y="3813048"/>
            <a:ext cx="5486400" cy="310896"/>
          </a:xfrm>
          <a:prstGeom prst="rect">
            <a:avLst/>
          </a:prstGeom>
          <a:noFill/>
        </p:spPr>
        <p:txBody>
          <a:bodyPr wrap="square" lIns="0" rIns="0" tIns="0" bIns="0">
            <a:spAutoFit/>
          </a:bodyPr>
          <a:lstStyle/>
          <a:p>
            <a:pPr algn="l">
              <a:lnSpc>
                <a:spcPct val="115000"/>
              </a:lnSpc>
            </a:pPr>
            <a:r>
              <a:rPr sz="1500" b="1">
                <a:solidFill>
                  <a:srgbClr val="DCDDE0"/>
                </a:solidFill>
                <a:latin typeface="Segoe UI"/>
              </a:rPr>
              <a:t>Live control</a:t>
            </a:r>
          </a:p>
        </p:txBody>
      </p:sp>
      <p:sp>
        <p:nvSpPr>
          <p:cNvPr id="24" name="TextBox 23"/>
          <p:cNvSpPr txBox="1"/>
          <p:nvPr/>
        </p:nvSpPr>
        <p:spPr>
          <a:xfrm>
            <a:off x="6949440" y="3831336"/>
            <a:ext cx="4389120" cy="274320"/>
          </a:xfrm>
          <a:prstGeom prst="rect">
            <a:avLst/>
          </a:prstGeom>
          <a:noFill/>
        </p:spPr>
        <p:txBody>
          <a:bodyPr wrap="square" lIns="0" rIns="0" tIns="0" bIns="0">
            <a:spAutoFit/>
          </a:bodyPr>
          <a:lstStyle/>
          <a:p>
            <a:pPr algn="l">
              <a:lnSpc>
                <a:spcPct val="115000"/>
              </a:lnSpc>
            </a:pPr>
            <a:r>
              <a:rPr sz="1250" b="0">
                <a:solidFill>
                  <a:srgbClr val="5C5F65"/>
                </a:solidFill>
                <a:latin typeface="Segoe UI"/>
              </a:rPr>
              <a:t>play, pause, offset, blank</a:t>
            </a:r>
          </a:p>
        </p:txBody>
      </p:sp>
      <p:sp>
        <p:nvSpPr>
          <p:cNvPr id="25" name="Rectangle 24"/>
          <p:cNvSpPr/>
          <p:nvPr/>
        </p:nvSpPr>
        <p:spPr>
          <a:xfrm>
            <a:off x="685800" y="4407408"/>
            <a:ext cx="10789920" cy="621792"/>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4407408"/>
            <a:ext cx="28575" cy="621792"/>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581144"/>
            <a:ext cx="457200" cy="274320"/>
          </a:xfrm>
          <a:prstGeom prst="rect">
            <a:avLst/>
          </a:prstGeom>
          <a:noFill/>
        </p:spPr>
        <p:txBody>
          <a:bodyPr wrap="square" lIns="0" rIns="0" tIns="0" bIns="0">
            <a:spAutoFit/>
          </a:bodyPr>
          <a:lstStyle/>
          <a:p>
            <a:pPr algn="l">
              <a:lnSpc>
                <a:spcPct val="115000"/>
              </a:lnSpc>
            </a:pPr>
            <a:r>
              <a:rPr sz="1400" b="1">
                <a:solidFill>
                  <a:srgbClr val="41B883"/>
                </a:solidFill>
                <a:latin typeface="Segoe UI"/>
              </a:rPr>
              <a:t>5</a:t>
            </a:r>
          </a:p>
        </p:txBody>
      </p:sp>
      <p:sp>
        <p:nvSpPr>
          <p:cNvPr id="28" name="TextBox 27"/>
          <p:cNvSpPr txBox="1"/>
          <p:nvPr/>
        </p:nvSpPr>
        <p:spPr>
          <a:xfrm>
            <a:off x="1463040" y="4572000"/>
            <a:ext cx="5486400" cy="310896"/>
          </a:xfrm>
          <a:prstGeom prst="rect">
            <a:avLst/>
          </a:prstGeom>
          <a:noFill/>
        </p:spPr>
        <p:txBody>
          <a:bodyPr wrap="square" lIns="0" rIns="0" tIns="0" bIns="0">
            <a:spAutoFit/>
          </a:bodyPr>
          <a:lstStyle/>
          <a:p>
            <a:pPr algn="l">
              <a:lnSpc>
                <a:spcPct val="115000"/>
              </a:lnSpc>
            </a:pPr>
            <a:r>
              <a:rPr sz="1500" b="1">
                <a:solidFill>
                  <a:srgbClr val="DCDDE0"/>
                </a:solidFill>
                <a:latin typeface="Segoe UI"/>
              </a:rPr>
              <a:t>Renderer</a:t>
            </a:r>
          </a:p>
        </p:txBody>
      </p:sp>
      <p:sp>
        <p:nvSpPr>
          <p:cNvPr id="29" name="TextBox 28"/>
          <p:cNvSpPr txBox="1"/>
          <p:nvPr/>
        </p:nvSpPr>
        <p:spPr>
          <a:xfrm>
            <a:off x="6949440" y="4590288"/>
            <a:ext cx="4389120" cy="274320"/>
          </a:xfrm>
          <a:prstGeom prst="rect">
            <a:avLst/>
          </a:prstGeom>
          <a:noFill/>
        </p:spPr>
        <p:txBody>
          <a:bodyPr wrap="square" lIns="0" rIns="0" tIns="0" bIns="0">
            <a:spAutoFit/>
          </a:bodyPr>
          <a:lstStyle/>
          <a:p>
            <a:pPr algn="l">
              <a:lnSpc>
                <a:spcPct val="115000"/>
              </a:lnSpc>
            </a:pPr>
            <a:r>
              <a:rPr sz="1250" b="0">
                <a:solidFill>
                  <a:srgbClr val="5C5F65"/>
                </a:solidFill>
                <a:latin typeface="Segoe UI"/>
              </a:rPr>
              <a:t>multi-line scroll, transparent RGBA</a:t>
            </a:r>
          </a:p>
        </p:txBody>
      </p:sp>
      <p:sp>
        <p:nvSpPr>
          <p:cNvPr id="30" name="Rectangle 29"/>
          <p:cNvSpPr/>
          <p:nvPr/>
        </p:nvSpPr>
        <p:spPr>
          <a:xfrm>
            <a:off x="685800" y="5166360"/>
            <a:ext cx="10789920" cy="621792"/>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5166360"/>
            <a:ext cx="28575" cy="621792"/>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5340096"/>
            <a:ext cx="457200" cy="274320"/>
          </a:xfrm>
          <a:prstGeom prst="rect">
            <a:avLst/>
          </a:prstGeom>
          <a:noFill/>
        </p:spPr>
        <p:txBody>
          <a:bodyPr wrap="square" lIns="0" rIns="0" tIns="0" bIns="0">
            <a:spAutoFit/>
          </a:bodyPr>
          <a:lstStyle/>
          <a:p>
            <a:pPr algn="l">
              <a:lnSpc>
                <a:spcPct val="115000"/>
              </a:lnSpc>
            </a:pPr>
            <a:r>
              <a:rPr sz="1400" b="1">
                <a:solidFill>
                  <a:srgbClr val="41B883"/>
                </a:solidFill>
                <a:latin typeface="Segoe UI"/>
              </a:rPr>
              <a:t>6</a:t>
            </a:r>
          </a:p>
        </p:txBody>
      </p:sp>
      <p:sp>
        <p:nvSpPr>
          <p:cNvPr id="33" name="TextBox 32"/>
          <p:cNvSpPr txBox="1"/>
          <p:nvPr/>
        </p:nvSpPr>
        <p:spPr>
          <a:xfrm>
            <a:off x="1463040" y="5330952"/>
            <a:ext cx="5486400" cy="310896"/>
          </a:xfrm>
          <a:prstGeom prst="rect">
            <a:avLst/>
          </a:prstGeom>
          <a:noFill/>
        </p:spPr>
        <p:txBody>
          <a:bodyPr wrap="square" lIns="0" rIns="0" tIns="0" bIns="0">
            <a:spAutoFit/>
          </a:bodyPr>
          <a:lstStyle/>
          <a:p>
            <a:pPr algn="l">
              <a:lnSpc>
                <a:spcPct val="115000"/>
              </a:lnSpc>
            </a:pPr>
            <a:r>
              <a:rPr sz="1500" b="1">
                <a:solidFill>
                  <a:srgbClr val="DCDDE0"/>
                </a:solidFill>
                <a:latin typeface="Segoe UI"/>
              </a:rPr>
              <a:t>Spout</a:t>
            </a:r>
          </a:p>
        </p:txBody>
      </p:sp>
      <p:sp>
        <p:nvSpPr>
          <p:cNvPr id="34" name="TextBox 33"/>
          <p:cNvSpPr txBox="1"/>
          <p:nvPr/>
        </p:nvSpPr>
        <p:spPr>
          <a:xfrm>
            <a:off x="6949440" y="5349240"/>
            <a:ext cx="4389120" cy="274320"/>
          </a:xfrm>
          <a:prstGeom prst="rect">
            <a:avLst/>
          </a:prstGeom>
          <a:noFill/>
        </p:spPr>
        <p:txBody>
          <a:bodyPr wrap="square" lIns="0" rIns="0" tIns="0" bIns="0">
            <a:spAutoFit/>
          </a:bodyPr>
          <a:lstStyle/>
          <a:p>
            <a:pPr algn="l">
              <a:lnSpc>
                <a:spcPct val="115000"/>
              </a:lnSpc>
            </a:pPr>
            <a:r>
              <a:rPr sz="1250" b="0">
                <a:solidFill>
                  <a:srgbClr val="5C5F65"/>
                </a:solidFill>
                <a:latin typeface="Segoe UI"/>
              </a:rPr>
              <a:t>Resolume: Sources &gt; Spout</a:t>
            </a:r>
          </a:p>
        </p:txBody>
      </p:sp>
      <p:sp>
        <p:nvSpPr>
          <p:cNvPr id="35" name="TextBox 34"/>
          <p:cNvSpPr txBox="1"/>
          <p:nvPr/>
        </p:nvSpPr>
        <p:spPr>
          <a:xfrm>
            <a:off x="685800" y="6153912"/>
            <a:ext cx="10515600" cy="822960"/>
          </a:xfrm>
          <a:prstGeom prst="rect">
            <a:avLst/>
          </a:prstGeom>
          <a:noFill/>
        </p:spPr>
        <p:txBody>
          <a:bodyPr wrap="square" lIns="0" rIns="0" tIns="0" bIns="0">
            <a:spAutoFit/>
          </a:bodyPr>
          <a:lstStyle/>
          <a:p>
            <a:pPr algn="l">
              <a:lnSpc>
                <a:spcPct val="135000"/>
              </a:lnSpc>
            </a:pPr>
            <a:r>
              <a:rPr sz="1250" b="0">
                <a:solidFill>
                  <a:srgbClr val="8D9096"/>
                </a:solidFill>
                <a:latin typeface="Segoe UI"/>
              </a:rPr>
              <a:t>Sync is manual by design. You press Play when the song starts and nudge it if it drifts. No audio listening, no beat detection, nothing to go wrong in front of an audience.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Live</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05</a:t>
            </a:r>
          </a:p>
        </p:txBody>
      </p:sp>
      <p:sp>
        <p:nvSpPr>
          <p:cNvPr id="5" name="Rectangle 4"/>
          <p:cNvSpPr/>
          <p:nvPr/>
        </p:nvSpPr>
        <p:spPr>
          <a:xfrm>
            <a:off x="676275" y="1239202"/>
            <a:ext cx="8020050" cy="5019675"/>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b-live.png"/>
          <p:cNvPicPr>
            <a:picLocks noChangeAspect="1"/>
          </p:cNvPicPr>
          <p:nvPr/>
        </p:nvPicPr>
        <p:blipFill>
          <a:blip r:embed="rId2"/>
          <a:stretch>
            <a:fillRect/>
          </a:stretch>
        </p:blipFill>
        <p:spPr>
          <a:xfrm>
            <a:off x="685800" y="1248727"/>
            <a:ext cx="8001000" cy="5000625"/>
          </a:xfrm>
          <a:prstGeom prst="rect">
            <a:avLst/>
          </a:prstGeom>
        </p:spPr>
      </p:pic>
      <p:sp>
        <p:nvSpPr>
          <p:cNvPr id="7" name="Rectangle 6"/>
          <p:cNvSpPr/>
          <p:nvPr/>
        </p:nvSpPr>
        <p:spPr>
          <a:xfrm>
            <a:off x="9006840" y="1298448"/>
            <a:ext cx="28575" cy="27432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81160" y="1234440"/>
            <a:ext cx="2286000" cy="320040"/>
          </a:xfrm>
          <a:prstGeom prst="rect">
            <a:avLst/>
          </a:prstGeom>
          <a:noFill/>
        </p:spPr>
        <p:txBody>
          <a:bodyPr wrap="square" lIns="0" rIns="0" tIns="0" bIns="0">
            <a:spAutoFit/>
          </a:bodyPr>
          <a:lstStyle/>
          <a:p>
            <a:pPr algn="l">
              <a:lnSpc>
                <a:spcPct val="115000"/>
              </a:lnSpc>
            </a:pPr>
            <a:r>
              <a:rPr sz="1400" b="1">
                <a:solidFill>
                  <a:srgbClr val="DCDDE0"/>
                </a:solidFill>
                <a:latin typeface="Segoe UI"/>
              </a:rPr>
              <a:t>Live</a:t>
            </a:r>
          </a:p>
        </p:txBody>
      </p:sp>
      <p:sp>
        <p:nvSpPr>
          <p:cNvPr id="9" name="TextBox 8"/>
          <p:cNvSpPr txBox="1"/>
          <p:nvPr/>
        </p:nvSpPr>
        <p:spPr>
          <a:xfrm>
            <a:off x="9281160" y="1664208"/>
            <a:ext cx="2331720" cy="4114800"/>
          </a:xfrm>
          <a:prstGeom prst="rect">
            <a:avLst/>
          </a:prstGeom>
          <a:noFill/>
        </p:spPr>
        <p:txBody>
          <a:bodyPr wrap="square" lIns="0" rIns="0" tIns="0" bIns="0">
            <a:spAutoFit/>
          </a:bodyPr>
          <a:lstStyle/>
          <a:p>
            <a:pPr algn="l">
              <a:lnSpc>
                <a:spcPct val="140000"/>
              </a:lnSpc>
            </a:pPr>
            <a:r>
              <a:rPr sz="1200" b="0">
                <a:solidFill>
                  <a:srgbClr val="8D9096"/>
                </a:solidFill>
                <a:latin typeface="Segoe UI"/>
              </a:rPr>
              <a:t>Set list, the full lyric sheet, and a preview of exactly what Resolume is receiving. The strip reads ON AIR at 29.7 fps, measured, not decorative.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Library and Show</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06</a:t>
            </a:r>
          </a:p>
        </p:txBody>
      </p:sp>
      <p:sp>
        <p:nvSpPr>
          <p:cNvPr id="5" name="Rectangle 4"/>
          <p:cNvSpPr/>
          <p:nvPr/>
        </p:nvSpPr>
        <p:spPr>
          <a:xfrm>
            <a:off x="4516755" y="1644967"/>
            <a:ext cx="7014210" cy="4391025"/>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b-library.png"/>
          <p:cNvPicPr>
            <a:picLocks noChangeAspect="1"/>
          </p:cNvPicPr>
          <p:nvPr/>
        </p:nvPicPr>
        <p:blipFill>
          <a:blip r:embed="rId2"/>
          <a:stretch>
            <a:fillRect/>
          </a:stretch>
        </p:blipFill>
        <p:spPr>
          <a:xfrm>
            <a:off x="4526280" y="1654492"/>
            <a:ext cx="6995160" cy="4371975"/>
          </a:xfrm>
          <a:prstGeom prst="rect">
            <a:avLst/>
          </a:prstGeom>
        </p:spPr>
      </p:pic>
      <p:sp>
        <p:nvSpPr>
          <p:cNvPr id="7" name="Rectangle 6"/>
          <p:cNvSpPr/>
          <p:nvPr/>
        </p:nvSpPr>
        <p:spPr>
          <a:xfrm>
            <a:off x="685800" y="1490472"/>
            <a:ext cx="28575" cy="27432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417320"/>
            <a:ext cx="3291840" cy="292608"/>
          </a:xfrm>
          <a:prstGeom prst="rect">
            <a:avLst/>
          </a:prstGeom>
          <a:noFill/>
        </p:spPr>
        <p:txBody>
          <a:bodyPr wrap="square" lIns="0" rIns="0" tIns="0" bIns="0">
            <a:spAutoFit/>
          </a:bodyPr>
          <a:lstStyle/>
          <a:p>
            <a:pPr algn="l">
              <a:lnSpc>
                <a:spcPct val="115000"/>
              </a:lnSpc>
            </a:pPr>
            <a:r>
              <a:rPr sz="1500" b="1">
                <a:solidFill>
                  <a:srgbClr val="DCDDE0"/>
                </a:solidFill>
                <a:latin typeface="Segoe UI"/>
              </a:rPr>
              <a:t>One search box</a:t>
            </a:r>
          </a:p>
        </p:txBody>
      </p:sp>
      <p:sp>
        <p:nvSpPr>
          <p:cNvPr id="9" name="TextBox 8"/>
          <p:cNvSpPr txBox="1"/>
          <p:nvPr/>
        </p:nvSpPr>
        <p:spPr>
          <a:xfrm>
            <a:off x="960120" y="1746504"/>
            <a:ext cx="3291840" cy="1097280"/>
          </a:xfrm>
          <a:prstGeom prst="rect">
            <a:avLst/>
          </a:prstGeom>
          <a:noFill/>
        </p:spPr>
        <p:txBody>
          <a:bodyPr wrap="square" lIns="0" rIns="0" tIns="0" bIns="0">
            <a:spAutoFit/>
          </a:bodyPr>
          <a:lstStyle/>
          <a:p>
            <a:pPr algn="l">
              <a:lnSpc>
                <a:spcPct val="130000"/>
              </a:lnSpc>
            </a:pPr>
            <a:r>
              <a:rPr sz="1200" b="0">
                <a:solidFill>
                  <a:srgbClr val="8D9096"/>
                </a:solidFill>
                <a:latin typeface="Segoe UI"/>
              </a:rPr>
              <a:t>Title, artist, or both, in any order. It maps to LRCLIB's own query parameter.</a:t>
            </a:r>
          </a:p>
        </p:txBody>
      </p:sp>
      <p:sp>
        <p:nvSpPr>
          <p:cNvPr id="10" name="Rectangle 9"/>
          <p:cNvSpPr/>
          <p:nvPr/>
        </p:nvSpPr>
        <p:spPr>
          <a:xfrm>
            <a:off x="685800" y="2907792"/>
            <a:ext cx="28575" cy="27432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34640"/>
            <a:ext cx="3291840" cy="292608"/>
          </a:xfrm>
          <a:prstGeom prst="rect">
            <a:avLst/>
          </a:prstGeom>
          <a:noFill/>
        </p:spPr>
        <p:txBody>
          <a:bodyPr wrap="square" lIns="0" rIns="0" tIns="0" bIns="0">
            <a:spAutoFit/>
          </a:bodyPr>
          <a:lstStyle/>
          <a:p>
            <a:pPr algn="l">
              <a:lnSpc>
                <a:spcPct val="115000"/>
              </a:lnSpc>
            </a:pPr>
            <a:r>
              <a:rPr sz="1500" b="1">
                <a:solidFill>
                  <a:srgbClr val="DCDDE0"/>
                </a:solidFill>
                <a:latin typeface="Segoe UI"/>
              </a:rPr>
              <a:t>Works offline</a:t>
            </a:r>
          </a:p>
        </p:txBody>
      </p:sp>
      <p:sp>
        <p:nvSpPr>
          <p:cNvPr id="12" name="TextBox 11"/>
          <p:cNvSpPr txBox="1"/>
          <p:nvPr/>
        </p:nvSpPr>
        <p:spPr>
          <a:xfrm>
            <a:off x="960120" y="3163824"/>
            <a:ext cx="3291840" cy="1097280"/>
          </a:xfrm>
          <a:prstGeom prst="rect">
            <a:avLst/>
          </a:prstGeom>
          <a:noFill/>
        </p:spPr>
        <p:txBody>
          <a:bodyPr wrap="square" lIns="0" rIns="0" tIns="0" bIns="0">
            <a:spAutoFit/>
          </a:bodyPr>
          <a:lstStyle/>
          <a:p>
            <a:pPr algn="l">
              <a:lnSpc>
                <a:spcPct val="130000"/>
              </a:lnSpc>
            </a:pPr>
            <a:r>
              <a:rPr sz="1200" b="0">
                <a:solidFill>
                  <a:srgbClr val="8D9096"/>
                </a:solidFill>
                <a:latin typeface="Segoe UI"/>
              </a:rPr>
              <a:t>Once a song is saved locally, LRCLIB being down does not stop the show.</a:t>
            </a:r>
          </a:p>
        </p:txBody>
      </p:sp>
      <p:sp>
        <p:nvSpPr>
          <p:cNvPr id="13" name="Rectangle 12"/>
          <p:cNvSpPr/>
          <p:nvPr/>
        </p:nvSpPr>
        <p:spPr>
          <a:xfrm>
            <a:off x="685800" y="4325112"/>
            <a:ext cx="28575" cy="27432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251960"/>
            <a:ext cx="3291840" cy="292608"/>
          </a:xfrm>
          <a:prstGeom prst="rect">
            <a:avLst/>
          </a:prstGeom>
          <a:noFill/>
        </p:spPr>
        <p:txBody>
          <a:bodyPr wrap="square" lIns="0" rIns="0" tIns="0" bIns="0">
            <a:spAutoFit/>
          </a:bodyPr>
          <a:lstStyle/>
          <a:p>
            <a:pPr algn="l">
              <a:lnSpc>
                <a:spcPct val="115000"/>
              </a:lnSpc>
            </a:pPr>
            <a:r>
              <a:rPr sz="1500" b="1">
                <a:solidFill>
                  <a:srgbClr val="DCDDE0"/>
                </a:solidFill>
                <a:latin typeface="Segoe UI"/>
              </a:rPr>
              <a:t>Manual editor</a:t>
            </a:r>
          </a:p>
        </p:txBody>
      </p:sp>
      <p:sp>
        <p:nvSpPr>
          <p:cNvPr id="15" name="TextBox 14"/>
          <p:cNvSpPr txBox="1"/>
          <p:nvPr/>
        </p:nvSpPr>
        <p:spPr>
          <a:xfrm>
            <a:off x="960120" y="4581144"/>
            <a:ext cx="3291840" cy="1097280"/>
          </a:xfrm>
          <a:prstGeom prst="rect">
            <a:avLst/>
          </a:prstGeom>
          <a:noFill/>
        </p:spPr>
        <p:txBody>
          <a:bodyPr wrap="square" lIns="0" rIns="0" tIns="0" bIns="0">
            <a:spAutoFit/>
          </a:bodyPr>
          <a:lstStyle/>
          <a:p>
            <a:pPr algn="l">
              <a:lnSpc>
                <a:spcPct val="130000"/>
              </a:lnSpc>
            </a:pPr>
            <a:r>
              <a:rPr sz="1200" b="0">
                <a:solidFill>
                  <a:srgbClr val="8D9096"/>
                </a:solidFill>
                <a:latin typeface="Segoe UI"/>
              </a:rPr>
              <a:t>Tap to timestamp, shift every line at once, export .lrc.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Style</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07</a:t>
            </a:r>
          </a:p>
        </p:txBody>
      </p:sp>
      <p:sp>
        <p:nvSpPr>
          <p:cNvPr id="5" name="Rectangle 4"/>
          <p:cNvSpPr/>
          <p:nvPr/>
        </p:nvSpPr>
        <p:spPr>
          <a:xfrm>
            <a:off x="676275" y="1239202"/>
            <a:ext cx="8020050" cy="5019675"/>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b-style.png"/>
          <p:cNvPicPr>
            <a:picLocks noChangeAspect="1"/>
          </p:cNvPicPr>
          <p:nvPr/>
        </p:nvPicPr>
        <p:blipFill>
          <a:blip r:embed="rId2"/>
          <a:stretch>
            <a:fillRect/>
          </a:stretch>
        </p:blipFill>
        <p:spPr>
          <a:xfrm>
            <a:off x="685800" y="1248727"/>
            <a:ext cx="8001000" cy="5000625"/>
          </a:xfrm>
          <a:prstGeom prst="rect">
            <a:avLst/>
          </a:prstGeom>
        </p:spPr>
      </p:pic>
      <p:sp>
        <p:nvSpPr>
          <p:cNvPr id="7" name="Rectangle 6"/>
          <p:cNvSpPr/>
          <p:nvPr/>
        </p:nvSpPr>
        <p:spPr>
          <a:xfrm>
            <a:off x="9006840" y="1298448"/>
            <a:ext cx="28575" cy="27432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81160" y="1234440"/>
            <a:ext cx="2286000" cy="320040"/>
          </a:xfrm>
          <a:prstGeom prst="rect">
            <a:avLst/>
          </a:prstGeom>
          <a:noFill/>
        </p:spPr>
        <p:txBody>
          <a:bodyPr wrap="square" lIns="0" rIns="0" tIns="0" bIns="0">
            <a:spAutoFit/>
          </a:bodyPr>
          <a:lstStyle/>
          <a:p>
            <a:pPr algn="l">
              <a:lnSpc>
                <a:spcPct val="115000"/>
              </a:lnSpc>
            </a:pPr>
            <a:r>
              <a:rPr sz="1400" b="1">
                <a:solidFill>
                  <a:srgbClr val="DCDDE0"/>
                </a:solidFill>
                <a:latin typeface="Segoe UI"/>
              </a:rPr>
              <a:t>Style</a:t>
            </a:r>
          </a:p>
        </p:txBody>
      </p:sp>
      <p:sp>
        <p:nvSpPr>
          <p:cNvPr id="9" name="TextBox 8"/>
          <p:cNvSpPr txBox="1"/>
          <p:nvPr/>
        </p:nvSpPr>
        <p:spPr>
          <a:xfrm>
            <a:off x="9281160" y="1664208"/>
            <a:ext cx="2331720" cy="4114800"/>
          </a:xfrm>
          <a:prstGeom prst="rect">
            <a:avLst/>
          </a:prstGeom>
          <a:noFill/>
        </p:spPr>
        <p:txBody>
          <a:bodyPr wrap="square" lIns="0" rIns="0" tIns="0" bIns="0">
            <a:spAutoFit/>
          </a:bodyPr>
          <a:lstStyle/>
          <a:p>
            <a:pPr algn="l">
              <a:lnSpc>
                <a:spcPct val="140000"/>
              </a:lnSpc>
            </a:pPr>
            <a:r>
              <a:rPr sz="1200" b="0">
                <a:solidFill>
                  <a:srgbClr val="8D9096"/>
                </a:solidFill>
                <a:latin typeface="Segoe UI"/>
              </a:rPr>
              <a:t>Every visual parameter, live as you drag. Right-click any control to reset it, the way Resolume Arena behaves. Save the result as a template.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Cast: OBS, TikTok Live, second screen</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08</a:t>
            </a:r>
          </a:p>
        </p:txBody>
      </p:sp>
      <p:sp>
        <p:nvSpPr>
          <p:cNvPr id="5" name="Rectangle 4"/>
          <p:cNvSpPr/>
          <p:nvPr/>
        </p:nvSpPr>
        <p:spPr>
          <a:xfrm>
            <a:off x="725261" y="1224915"/>
            <a:ext cx="7922078" cy="5048250"/>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st.png"/>
          <p:cNvPicPr>
            <a:picLocks noChangeAspect="1"/>
          </p:cNvPicPr>
          <p:nvPr/>
        </p:nvPicPr>
        <p:blipFill>
          <a:blip r:embed="rId2"/>
          <a:stretch>
            <a:fillRect/>
          </a:stretch>
        </p:blipFill>
        <p:spPr>
          <a:xfrm>
            <a:off x="734786" y="1234440"/>
            <a:ext cx="7903028" cy="5029200"/>
          </a:xfrm>
          <a:prstGeom prst="rect">
            <a:avLst/>
          </a:prstGeom>
        </p:spPr>
      </p:pic>
      <p:sp>
        <p:nvSpPr>
          <p:cNvPr id="7" name="Rectangle 6"/>
          <p:cNvSpPr/>
          <p:nvPr/>
        </p:nvSpPr>
        <p:spPr>
          <a:xfrm>
            <a:off x="9006840" y="1298448"/>
            <a:ext cx="28575" cy="27432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81160" y="1234440"/>
            <a:ext cx="2286000" cy="320040"/>
          </a:xfrm>
          <a:prstGeom prst="rect">
            <a:avLst/>
          </a:prstGeom>
          <a:noFill/>
        </p:spPr>
        <p:txBody>
          <a:bodyPr wrap="square" lIns="0" rIns="0" tIns="0" bIns="0">
            <a:spAutoFit/>
          </a:bodyPr>
          <a:lstStyle/>
          <a:p>
            <a:pPr algn="l">
              <a:lnSpc>
                <a:spcPct val="115000"/>
              </a:lnSpc>
            </a:pPr>
            <a:r>
              <a:rPr sz="1400" b="1">
                <a:solidFill>
                  <a:srgbClr val="DCDDE0"/>
                </a:solidFill>
                <a:latin typeface="Segoe UI"/>
              </a:rPr>
              <a:t>Cast: OBS, TikTok Live, second screen</a:t>
            </a:r>
          </a:p>
        </p:txBody>
      </p:sp>
      <p:sp>
        <p:nvSpPr>
          <p:cNvPr id="9" name="TextBox 8"/>
          <p:cNvSpPr txBox="1"/>
          <p:nvPr/>
        </p:nvSpPr>
        <p:spPr>
          <a:xfrm>
            <a:off x="9281160" y="1664208"/>
            <a:ext cx="2331720" cy="4114800"/>
          </a:xfrm>
          <a:prstGeom prst="rect">
            <a:avLst/>
          </a:prstGeom>
          <a:noFill/>
        </p:spPr>
        <p:txBody>
          <a:bodyPr wrap="square" lIns="0" rIns="0" tIns="0" bIns="0">
            <a:spAutoFit/>
          </a:bodyPr>
          <a:lstStyle/>
          <a:p>
            <a:pPr algn="l">
              <a:lnSpc>
                <a:spcPct val="140000"/>
              </a:lnSpc>
            </a:pPr>
            <a:r>
              <a:rPr sz="1200" b="0">
                <a:solidFill>
                  <a:srgbClr val="8D9096"/>
                </a:solidFill>
                <a:latin typeface="Segoe UI"/>
              </a:rPr>
              <a:t>One window covers all three, because all three want the same thing: something capturable. Note the warning: alpha does not survive Window Capture, so the app detects it and offers the fix.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Operator Display</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09</a:t>
            </a:r>
          </a:p>
        </p:txBody>
      </p:sp>
      <p:sp>
        <p:nvSpPr>
          <p:cNvPr id="5" name="Rectangle 4"/>
          <p:cNvSpPr/>
          <p:nvPr/>
        </p:nvSpPr>
        <p:spPr>
          <a:xfrm>
            <a:off x="676275" y="2339340"/>
            <a:ext cx="8020050" cy="2819400"/>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tor.png"/>
          <p:cNvPicPr>
            <a:picLocks noChangeAspect="1"/>
          </p:cNvPicPr>
          <p:nvPr/>
        </p:nvPicPr>
        <p:blipFill>
          <a:blip r:embed="rId2"/>
          <a:stretch>
            <a:fillRect/>
          </a:stretch>
        </p:blipFill>
        <p:spPr>
          <a:xfrm>
            <a:off x="685800" y="2348865"/>
            <a:ext cx="8001000" cy="2800350"/>
          </a:xfrm>
          <a:prstGeom prst="rect">
            <a:avLst/>
          </a:prstGeom>
        </p:spPr>
      </p:pic>
      <p:sp>
        <p:nvSpPr>
          <p:cNvPr id="7" name="Rectangle 6"/>
          <p:cNvSpPr/>
          <p:nvPr/>
        </p:nvSpPr>
        <p:spPr>
          <a:xfrm>
            <a:off x="9006840" y="1298448"/>
            <a:ext cx="28575" cy="274320"/>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81160" y="1234440"/>
            <a:ext cx="2286000" cy="320040"/>
          </a:xfrm>
          <a:prstGeom prst="rect">
            <a:avLst/>
          </a:prstGeom>
          <a:noFill/>
        </p:spPr>
        <p:txBody>
          <a:bodyPr wrap="square" lIns="0" rIns="0" tIns="0" bIns="0">
            <a:spAutoFit/>
          </a:bodyPr>
          <a:lstStyle/>
          <a:p>
            <a:pPr algn="l">
              <a:lnSpc>
                <a:spcPct val="115000"/>
              </a:lnSpc>
            </a:pPr>
            <a:r>
              <a:rPr sz="1400" b="1">
                <a:solidFill>
                  <a:srgbClr val="DCDDE0"/>
                </a:solidFill>
                <a:latin typeface="Segoe UI"/>
              </a:rPr>
              <a:t>Operator Display</a:t>
            </a:r>
          </a:p>
        </p:txBody>
      </p:sp>
      <p:sp>
        <p:nvSpPr>
          <p:cNvPr id="9" name="TextBox 8"/>
          <p:cNvSpPr txBox="1"/>
          <p:nvPr/>
        </p:nvSpPr>
        <p:spPr>
          <a:xfrm>
            <a:off x="9281160" y="1664208"/>
            <a:ext cx="2331720" cy="4114800"/>
          </a:xfrm>
          <a:prstGeom prst="rect">
            <a:avLst/>
          </a:prstGeom>
          <a:noFill/>
        </p:spPr>
        <p:txBody>
          <a:bodyPr wrap="square" lIns="0" rIns="0" tIns="0" bIns="0">
            <a:spAutoFit/>
          </a:bodyPr>
          <a:lstStyle/>
          <a:p>
            <a:pPr algn="l">
              <a:lnSpc>
                <a:spcPct val="140000"/>
              </a:lnSpc>
            </a:pPr>
            <a:r>
              <a:rPr sz="1200" b="0">
                <a:solidFill>
                  <a:srgbClr val="8D9096"/>
                </a:solidFill>
                <a:latin typeface="Segoe UI"/>
              </a:rPr>
              <a:t>NOW and NEXT on a second monitor, for whoever is calling the show. Position, elapsed time, mode, and sync offset along the bottom.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Measured, not claimed</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10</a:t>
            </a:r>
          </a:p>
        </p:txBody>
      </p:sp>
      <p:sp>
        <p:nvSpPr>
          <p:cNvPr id="5" name="Rectangle 4"/>
          <p:cNvSpPr/>
          <p:nvPr/>
        </p:nvSpPr>
        <p:spPr>
          <a:xfrm>
            <a:off x="685800" y="1600200"/>
            <a:ext cx="2587752" cy="3017520"/>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00200"/>
            <a:ext cx="2587752" cy="2857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2039112" cy="731520"/>
          </a:xfrm>
          <a:prstGeom prst="rect">
            <a:avLst/>
          </a:prstGeom>
          <a:noFill/>
        </p:spPr>
        <p:txBody>
          <a:bodyPr wrap="square" lIns="0" rIns="0" tIns="0" bIns="0">
            <a:spAutoFit/>
          </a:bodyPr>
          <a:lstStyle/>
          <a:p>
            <a:pPr algn="l">
              <a:lnSpc>
                <a:spcPct val="115000"/>
              </a:lnSpc>
            </a:pPr>
            <a:r>
              <a:rPr sz="3000" b="1">
                <a:solidFill>
                  <a:srgbClr val="41B883"/>
                </a:solidFill>
                <a:latin typeface="Segoe UI"/>
              </a:rPr>
              <a:t>29.7 fps</a:t>
            </a:r>
          </a:p>
        </p:txBody>
      </p:sp>
      <p:sp>
        <p:nvSpPr>
          <p:cNvPr id="8" name="TextBox 7"/>
          <p:cNvSpPr txBox="1"/>
          <p:nvPr/>
        </p:nvSpPr>
        <p:spPr>
          <a:xfrm>
            <a:off x="960120" y="2697480"/>
            <a:ext cx="2039112" cy="457200"/>
          </a:xfrm>
          <a:prstGeom prst="rect">
            <a:avLst/>
          </a:prstGeom>
          <a:noFill/>
        </p:spPr>
        <p:txBody>
          <a:bodyPr wrap="square" lIns="0" rIns="0" tIns="0" bIns="0">
            <a:spAutoFit/>
          </a:bodyPr>
          <a:lstStyle/>
          <a:p>
            <a:pPr algn="l">
              <a:lnSpc>
                <a:spcPct val="125000"/>
              </a:lnSpc>
            </a:pPr>
            <a:r>
              <a:rPr sz="1250" b="0">
                <a:solidFill>
                  <a:srgbClr val="DCDDE0"/>
                </a:solidFill>
                <a:latin typeface="Segoe UI"/>
              </a:rPr>
              <a:t>worst case, 1920x1080</a:t>
            </a:r>
          </a:p>
        </p:txBody>
      </p:sp>
      <p:sp>
        <p:nvSpPr>
          <p:cNvPr id="9" name="TextBox 8"/>
          <p:cNvSpPr txBox="1"/>
          <p:nvPr/>
        </p:nvSpPr>
        <p:spPr>
          <a:xfrm>
            <a:off x="960120" y="3246120"/>
            <a:ext cx="2039112" cy="1188720"/>
          </a:xfrm>
          <a:prstGeom prst="rect">
            <a:avLst/>
          </a:prstGeom>
          <a:noFill/>
        </p:spPr>
        <p:txBody>
          <a:bodyPr wrap="square" lIns="0" rIns="0" tIns="0" bIns="0">
            <a:spAutoFit/>
          </a:bodyPr>
          <a:lstStyle/>
          <a:p>
            <a:pPr algn="l">
              <a:lnSpc>
                <a:spcPct val="135000"/>
              </a:lnSpc>
            </a:pPr>
            <a:r>
              <a:rPr sz="1150" b="0">
                <a:solidFill>
                  <a:srgbClr val="5C5F65"/>
                </a:solidFill>
                <a:latin typeface="Segoe UI"/>
              </a:rPr>
              <a:t>Lines changing every 0.6s so the frame cache never helps</a:t>
            </a:r>
          </a:p>
        </p:txBody>
      </p:sp>
      <p:sp>
        <p:nvSpPr>
          <p:cNvPr id="10" name="Rectangle 9"/>
          <p:cNvSpPr/>
          <p:nvPr/>
        </p:nvSpPr>
        <p:spPr>
          <a:xfrm>
            <a:off x="3465576" y="1600200"/>
            <a:ext cx="2587752" cy="3017520"/>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65576" y="1600200"/>
            <a:ext cx="2587752" cy="2857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9896" y="1965960"/>
            <a:ext cx="2039112" cy="731520"/>
          </a:xfrm>
          <a:prstGeom prst="rect">
            <a:avLst/>
          </a:prstGeom>
          <a:noFill/>
        </p:spPr>
        <p:txBody>
          <a:bodyPr wrap="square" lIns="0" rIns="0" tIns="0" bIns="0">
            <a:spAutoFit/>
          </a:bodyPr>
          <a:lstStyle/>
          <a:p>
            <a:pPr algn="l">
              <a:lnSpc>
                <a:spcPct val="115000"/>
              </a:lnSpc>
            </a:pPr>
            <a:r>
              <a:rPr sz="3000" b="1">
                <a:solidFill>
                  <a:srgbClr val="41B883"/>
                </a:solidFill>
                <a:latin typeface="Segoe UI"/>
              </a:rPr>
              <a:t>26.0 ms</a:t>
            </a:r>
          </a:p>
        </p:txBody>
      </p:sp>
      <p:sp>
        <p:nvSpPr>
          <p:cNvPr id="13" name="TextBox 12"/>
          <p:cNvSpPr txBox="1"/>
          <p:nvPr/>
        </p:nvSpPr>
        <p:spPr>
          <a:xfrm>
            <a:off x="3739896" y="2697480"/>
            <a:ext cx="2039112" cy="457200"/>
          </a:xfrm>
          <a:prstGeom prst="rect">
            <a:avLst/>
          </a:prstGeom>
          <a:noFill/>
        </p:spPr>
        <p:txBody>
          <a:bodyPr wrap="square" lIns="0" rIns="0" tIns="0" bIns="0">
            <a:spAutoFit/>
          </a:bodyPr>
          <a:lstStyle/>
          <a:p>
            <a:pPr algn="l">
              <a:lnSpc>
                <a:spcPct val="125000"/>
              </a:lnSpc>
            </a:pPr>
            <a:r>
              <a:rPr sz="1250" b="0">
                <a:solidFill>
                  <a:srgbClr val="DCDDE0"/>
                </a:solidFill>
                <a:latin typeface="Segoe UI"/>
              </a:rPr>
              <a:t>per frame, median</a:t>
            </a:r>
          </a:p>
        </p:txBody>
      </p:sp>
      <p:sp>
        <p:nvSpPr>
          <p:cNvPr id="14" name="TextBox 13"/>
          <p:cNvSpPr txBox="1"/>
          <p:nvPr/>
        </p:nvSpPr>
        <p:spPr>
          <a:xfrm>
            <a:off x="3739896" y="3246120"/>
            <a:ext cx="2039112" cy="1188720"/>
          </a:xfrm>
          <a:prstGeom prst="rect">
            <a:avLst/>
          </a:prstGeom>
          <a:noFill/>
        </p:spPr>
        <p:txBody>
          <a:bodyPr wrap="square" lIns="0" rIns="0" tIns="0" bIns="0">
            <a:spAutoFit/>
          </a:bodyPr>
          <a:lstStyle/>
          <a:p>
            <a:pPr algn="l">
              <a:lnSpc>
                <a:spcPct val="135000"/>
              </a:lnSpc>
            </a:pPr>
            <a:r>
              <a:rPr sz="1150" b="0">
                <a:solidFill>
                  <a:srgbClr val="5C5F65"/>
                </a:solidFill>
                <a:latin typeface="Segoe UI"/>
              </a:rPr>
              <a:t>Against a 33.3 ms budget for 30 fps. 22% headroom</a:t>
            </a:r>
          </a:p>
        </p:txBody>
      </p:sp>
      <p:sp>
        <p:nvSpPr>
          <p:cNvPr id="15" name="Rectangle 14"/>
          <p:cNvSpPr/>
          <p:nvPr/>
        </p:nvSpPr>
        <p:spPr>
          <a:xfrm>
            <a:off x="6245352" y="1600200"/>
            <a:ext cx="2587752" cy="3017520"/>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5352" y="1600200"/>
            <a:ext cx="2587752" cy="2857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1965960"/>
            <a:ext cx="2039112" cy="731520"/>
          </a:xfrm>
          <a:prstGeom prst="rect">
            <a:avLst/>
          </a:prstGeom>
          <a:noFill/>
        </p:spPr>
        <p:txBody>
          <a:bodyPr wrap="square" lIns="0" rIns="0" tIns="0" bIns="0">
            <a:spAutoFit/>
          </a:bodyPr>
          <a:lstStyle/>
          <a:p>
            <a:pPr algn="l">
              <a:lnSpc>
                <a:spcPct val="115000"/>
              </a:lnSpc>
            </a:pPr>
            <a:r>
              <a:rPr sz="3000" b="1">
                <a:solidFill>
                  <a:srgbClr val="41B883"/>
                </a:solidFill>
                <a:latin typeface="Segoe UI"/>
              </a:rPr>
              <a:t>9.3 ms</a:t>
            </a:r>
          </a:p>
        </p:txBody>
      </p:sp>
      <p:sp>
        <p:nvSpPr>
          <p:cNvPr id="18" name="TextBox 17"/>
          <p:cNvSpPr txBox="1"/>
          <p:nvPr/>
        </p:nvSpPr>
        <p:spPr>
          <a:xfrm>
            <a:off x="6519672" y="2697480"/>
            <a:ext cx="2039112" cy="457200"/>
          </a:xfrm>
          <a:prstGeom prst="rect">
            <a:avLst/>
          </a:prstGeom>
          <a:noFill/>
        </p:spPr>
        <p:txBody>
          <a:bodyPr wrap="square" lIns="0" rIns="0" tIns="0" bIns="0">
            <a:spAutoFit/>
          </a:bodyPr>
          <a:lstStyle/>
          <a:p>
            <a:pPr algn="l">
              <a:lnSpc>
                <a:spcPct val="125000"/>
              </a:lnSpc>
            </a:pPr>
            <a:r>
              <a:rPr sz="1250" b="0">
                <a:solidFill>
                  <a:srgbClr val="DCDDE0"/>
                </a:solidFill>
                <a:latin typeface="Segoe UI"/>
              </a:rPr>
              <a:t>outline render, was 137 ms</a:t>
            </a:r>
          </a:p>
        </p:txBody>
      </p:sp>
      <p:sp>
        <p:nvSpPr>
          <p:cNvPr id="19" name="TextBox 18"/>
          <p:cNvSpPr txBox="1"/>
          <p:nvPr/>
        </p:nvSpPr>
        <p:spPr>
          <a:xfrm>
            <a:off x="6519672" y="3246120"/>
            <a:ext cx="2039112" cy="1188720"/>
          </a:xfrm>
          <a:prstGeom prst="rect">
            <a:avLst/>
          </a:prstGeom>
          <a:noFill/>
        </p:spPr>
        <p:txBody>
          <a:bodyPr wrap="square" lIns="0" rIns="0" tIns="0" bIns="0">
            <a:spAutoFit/>
          </a:bodyPr>
          <a:lstStyle/>
          <a:p>
            <a:pPr algn="l">
              <a:lnSpc>
                <a:spcPct val="135000"/>
              </a:lnSpc>
            </a:pPr>
            <a:r>
              <a:rPr sz="1150" b="0">
                <a:solidFill>
                  <a:srgbClr val="5C5F65"/>
                </a:solidFill>
                <a:latin typeface="Segoe UI"/>
              </a:rPr>
              <a:t>Brute-force outline replaced with Pillow stroke_width</a:t>
            </a:r>
          </a:p>
        </p:txBody>
      </p:sp>
      <p:sp>
        <p:nvSpPr>
          <p:cNvPr id="20" name="Rectangle 19"/>
          <p:cNvSpPr/>
          <p:nvPr/>
        </p:nvSpPr>
        <p:spPr>
          <a:xfrm>
            <a:off x="9025128" y="1600200"/>
            <a:ext cx="2587752" cy="3017520"/>
          </a:xfrm>
          <a:prstGeom prst="rect">
            <a:avLst/>
          </a:prstGeom>
          <a:solidFill>
            <a:srgbClr val="1515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25128" y="1600200"/>
            <a:ext cx="2587752" cy="2857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9448" y="1965960"/>
            <a:ext cx="2039112" cy="731520"/>
          </a:xfrm>
          <a:prstGeom prst="rect">
            <a:avLst/>
          </a:prstGeom>
          <a:noFill/>
        </p:spPr>
        <p:txBody>
          <a:bodyPr wrap="square" lIns="0" rIns="0" tIns="0" bIns="0">
            <a:spAutoFit/>
          </a:bodyPr>
          <a:lstStyle/>
          <a:p>
            <a:pPr algn="l">
              <a:lnSpc>
                <a:spcPct val="115000"/>
              </a:lnSpc>
            </a:pPr>
            <a:r>
              <a:rPr sz="3000" b="1">
                <a:solidFill>
                  <a:srgbClr val="41B883"/>
                </a:solidFill>
                <a:latin typeface="Segoe UI"/>
              </a:rPr>
              <a:t>18 to 40 ms</a:t>
            </a:r>
          </a:p>
        </p:txBody>
      </p:sp>
      <p:sp>
        <p:nvSpPr>
          <p:cNvPr id="23" name="TextBox 22"/>
          <p:cNvSpPr txBox="1"/>
          <p:nvPr/>
        </p:nvSpPr>
        <p:spPr>
          <a:xfrm>
            <a:off x="9299448" y="2697480"/>
            <a:ext cx="2039112" cy="457200"/>
          </a:xfrm>
          <a:prstGeom prst="rect">
            <a:avLst/>
          </a:prstGeom>
          <a:noFill/>
        </p:spPr>
        <p:txBody>
          <a:bodyPr wrap="square" lIns="0" rIns="0" tIns="0" bIns="0">
            <a:spAutoFit/>
          </a:bodyPr>
          <a:lstStyle/>
          <a:p>
            <a:pPr algn="l">
              <a:lnSpc>
                <a:spcPct val="125000"/>
              </a:lnSpc>
            </a:pPr>
            <a:r>
              <a:rPr sz="1250" b="0">
                <a:solidFill>
                  <a:srgbClr val="DCDDE0"/>
                </a:solidFill>
                <a:latin typeface="Segoe UI"/>
              </a:rPr>
              <a:t>style change to on-screen</a:t>
            </a:r>
          </a:p>
        </p:txBody>
      </p:sp>
      <p:sp>
        <p:nvSpPr>
          <p:cNvPr id="24" name="TextBox 23"/>
          <p:cNvSpPr txBox="1"/>
          <p:nvPr/>
        </p:nvSpPr>
        <p:spPr>
          <a:xfrm>
            <a:off x="9299448" y="3246120"/>
            <a:ext cx="2039112" cy="1188720"/>
          </a:xfrm>
          <a:prstGeom prst="rect">
            <a:avLst/>
          </a:prstGeom>
          <a:noFill/>
        </p:spPr>
        <p:txBody>
          <a:bodyPr wrap="square" lIns="0" rIns="0" tIns="0" bIns="0">
            <a:spAutoFit/>
          </a:bodyPr>
          <a:lstStyle/>
          <a:p>
            <a:pPr algn="l">
              <a:lnSpc>
                <a:spcPct val="135000"/>
              </a:lnSpc>
            </a:pPr>
            <a:r>
              <a:rPr sz="1150" b="0">
                <a:solidFill>
                  <a:srgbClr val="5C5F65"/>
                </a:solidFill>
                <a:latin typeface="Segoe UI"/>
              </a:rPr>
              <a:t>Style swaps without stopping the output</a:t>
            </a:r>
          </a:p>
        </p:txBody>
      </p:sp>
      <p:sp>
        <p:nvSpPr>
          <p:cNvPr id="25" name="TextBox 24"/>
          <p:cNvSpPr txBox="1"/>
          <p:nvPr/>
        </p:nvSpPr>
        <p:spPr>
          <a:xfrm>
            <a:off x="685800" y="5029200"/>
            <a:ext cx="10515600" cy="822960"/>
          </a:xfrm>
          <a:prstGeom prst="rect">
            <a:avLst/>
          </a:prstGeom>
          <a:noFill/>
        </p:spPr>
        <p:txBody>
          <a:bodyPr wrap="square" lIns="0" rIns="0" tIns="0" bIns="0">
            <a:spAutoFit/>
          </a:bodyPr>
          <a:lstStyle/>
          <a:p>
            <a:pPr algn="l">
              <a:lnSpc>
                <a:spcPct val="135000"/>
              </a:lnSpc>
            </a:pPr>
            <a:r>
              <a:rPr sz="1300" b="0">
                <a:solidFill>
                  <a:srgbClr val="8D9096"/>
                </a:solidFill>
                <a:latin typeface="Segoe UI"/>
              </a:rPr>
              <a:t>Every number here came from running the thing on Windows 11 with Resolume open. The full test transcripts are in SRS.md.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What it does not do</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11</a:t>
            </a:r>
          </a:p>
        </p:txBody>
      </p:sp>
      <p:sp>
        <p:nvSpPr>
          <p:cNvPr id="5" name="TextBox 4"/>
          <p:cNvSpPr txBox="1"/>
          <p:nvPr/>
        </p:nvSpPr>
        <p:spPr>
          <a:xfrm>
            <a:off x="685800" y="1280160"/>
            <a:ext cx="9875520" cy="640080"/>
          </a:xfrm>
          <a:prstGeom prst="rect">
            <a:avLst/>
          </a:prstGeom>
          <a:noFill/>
        </p:spPr>
        <p:txBody>
          <a:bodyPr wrap="square" lIns="0" rIns="0" tIns="0" bIns="0">
            <a:spAutoFit/>
          </a:bodyPr>
          <a:lstStyle/>
          <a:p>
            <a:pPr algn="l">
              <a:lnSpc>
                <a:spcPct val="135000"/>
              </a:lnSpc>
            </a:pPr>
            <a:r>
              <a:rPr sz="1700" b="0">
                <a:solidFill>
                  <a:srgbClr val="8D9096"/>
                </a:solidFill>
                <a:latin typeface="Segoe UI"/>
              </a:rPr>
              <a:t>Stated up front, because finding out during a show is worse.</a:t>
            </a:r>
          </a:p>
        </p:txBody>
      </p:sp>
      <p:sp>
        <p:nvSpPr>
          <p:cNvPr id="6" name="Rectangle 5"/>
          <p:cNvSpPr/>
          <p:nvPr/>
        </p:nvSpPr>
        <p:spPr>
          <a:xfrm>
            <a:off x="685800" y="2377440"/>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No audio analysis</a:t>
            </a:r>
          </a:p>
        </p:txBody>
      </p:sp>
      <p:sp>
        <p:nvSpPr>
          <p:cNvPr id="8" name="TextBox 7"/>
          <p:cNvSpPr txBox="1"/>
          <p:nvPr/>
        </p:nvSpPr>
        <p:spPr>
          <a:xfrm>
            <a:off x="1005840" y="2670048"/>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Sync is manual. This is a design decision, not a missing feature.</a:t>
            </a:r>
          </a:p>
        </p:txBody>
      </p:sp>
      <p:sp>
        <p:nvSpPr>
          <p:cNvPr id="9" name="Rectangle 8"/>
          <p:cNvSpPr/>
          <p:nvPr/>
        </p:nvSpPr>
        <p:spPr>
          <a:xfrm>
            <a:off x="685800" y="3401568"/>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10128"/>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Spout is Windows only</a:t>
            </a:r>
          </a:p>
        </p:txBody>
      </p:sp>
      <p:sp>
        <p:nvSpPr>
          <p:cNvPr id="11" name="TextBox 10"/>
          <p:cNvSpPr txBox="1"/>
          <p:nvPr/>
        </p:nvSpPr>
        <p:spPr>
          <a:xfrm>
            <a:off x="1005840" y="3694176"/>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The rest of the app runs anywhere, but output does not.</a:t>
            </a:r>
          </a:p>
        </p:txBody>
      </p:sp>
      <p:sp>
        <p:nvSpPr>
          <p:cNvPr id="12" name="Rectangle 11"/>
          <p:cNvSpPr/>
          <p:nvPr/>
        </p:nvSpPr>
        <p:spPr>
          <a:xfrm>
            <a:off x="685800" y="4425696"/>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OSC and MIDI are untested on hardware</a:t>
            </a:r>
          </a:p>
        </p:txBody>
      </p:sp>
      <p:sp>
        <p:nvSpPr>
          <p:cNvPr id="14" name="TextBox 13"/>
          <p:cNvSpPr txBox="1"/>
          <p:nvPr/>
        </p:nvSpPr>
        <p:spPr>
          <a:xfrm>
            <a:off x="1005840" y="4718304"/>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The code is there and it is documented as unverified. If you have a controller, please open an issue.</a:t>
            </a:r>
          </a:p>
        </p:txBody>
      </p:sp>
      <p:sp>
        <p:nvSpPr>
          <p:cNvPr id="15" name="Rectangle 14"/>
          <p:cNvSpPr/>
          <p:nvPr/>
        </p:nvSpPr>
        <p:spPr>
          <a:xfrm>
            <a:off x="685800" y="5449824"/>
            <a:ext cx="28575" cy="310896"/>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358384"/>
            <a:ext cx="10058400" cy="347472"/>
          </a:xfrm>
          <a:prstGeom prst="rect">
            <a:avLst/>
          </a:prstGeom>
          <a:noFill/>
        </p:spPr>
        <p:txBody>
          <a:bodyPr wrap="square" lIns="0" rIns="0" tIns="0" bIns="0">
            <a:spAutoFit/>
          </a:bodyPr>
          <a:lstStyle/>
          <a:p>
            <a:pPr algn="l">
              <a:lnSpc>
                <a:spcPct val="115000"/>
              </a:lnSpc>
            </a:pPr>
            <a:r>
              <a:rPr sz="1700" b="1">
                <a:solidFill>
                  <a:srgbClr val="DCDDE0"/>
                </a:solidFill>
                <a:latin typeface="Segoe UI"/>
              </a:rPr>
              <a:t>Not code signed</a:t>
            </a:r>
          </a:p>
        </p:txBody>
      </p:sp>
      <p:sp>
        <p:nvSpPr>
          <p:cNvPr id="17" name="TextBox 16"/>
          <p:cNvSpPr txBox="1"/>
          <p:nvPr/>
        </p:nvSpPr>
        <p:spPr>
          <a:xfrm>
            <a:off x="1005840" y="5742432"/>
            <a:ext cx="9692640" cy="640080"/>
          </a:xfrm>
          <a:prstGeom prst="rect">
            <a:avLst/>
          </a:prstGeom>
          <a:noFill/>
        </p:spPr>
        <p:txBody>
          <a:bodyPr wrap="square" lIns="0" rIns="0" tIns="0" bIns="0">
            <a:spAutoFit/>
          </a:bodyPr>
          <a:lstStyle/>
          <a:p>
            <a:pPr algn="l">
              <a:lnSpc>
                <a:spcPct val="130000"/>
              </a:lnSpc>
            </a:pPr>
            <a:r>
              <a:rPr sz="1350" b="0">
                <a:solidFill>
                  <a:srgbClr val="8D9096"/>
                </a:solidFill>
                <a:latin typeface="Segoe UI"/>
              </a:rPr>
              <a:t>Windows SmartScreen will warn on first run. The source is public so you can build it yourself.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0E0F"/>
        </a:solidFill>
        <a:effectLst/>
      </p:bgPr>
    </p:bg>
    <p:spTree>
      <p:nvGrpSpPr>
        <p:cNvPr id="1" name=""/>
        <p:cNvGrpSpPr/>
        <p:nvPr/>
      </p:nvGrpSpPr>
      <p:grpSpPr/>
      <p:sp>
        <p:nvSpPr>
          <p:cNvPr id="2" name="Rectangle 1"/>
          <p:cNvSpPr/>
          <p:nvPr/>
        </p:nvSpPr>
        <p:spPr>
          <a:xfrm>
            <a:off x="0" y="868680"/>
            <a:ext cx="12191695" cy="9525"/>
          </a:xfrm>
          <a:prstGeom prst="rect">
            <a:avLst/>
          </a:prstGeom>
          <a:solidFill>
            <a:srgbClr val="41B8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9144000" cy="457200"/>
          </a:xfrm>
          <a:prstGeom prst="rect">
            <a:avLst/>
          </a:prstGeom>
          <a:noFill/>
        </p:spPr>
        <p:txBody>
          <a:bodyPr wrap="square" lIns="0" rIns="0" tIns="0" bIns="0">
            <a:spAutoFit/>
          </a:bodyPr>
          <a:lstStyle/>
          <a:p>
            <a:pPr algn="l">
              <a:lnSpc>
                <a:spcPct val="115000"/>
              </a:lnSpc>
            </a:pPr>
            <a:r>
              <a:rPr sz="2600" b="1">
                <a:solidFill>
                  <a:srgbClr val="DCDDE0"/>
                </a:solidFill>
                <a:latin typeface="Segoe UI"/>
              </a:rPr>
              <a:t>Get it</a:t>
            </a:r>
          </a:p>
        </p:txBody>
      </p:sp>
      <p:sp>
        <p:nvSpPr>
          <p:cNvPr id="4" name="TextBox 3"/>
          <p:cNvSpPr txBox="1"/>
          <p:nvPr/>
        </p:nvSpPr>
        <p:spPr>
          <a:xfrm>
            <a:off x="10957255" y="502920"/>
            <a:ext cx="548640" cy="274320"/>
          </a:xfrm>
          <a:prstGeom prst="rect">
            <a:avLst/>
          </a:prstGeom>
          <a:noFill/>
        </p:spPr>
        <p:txBody>
          <a:bodyPr wrap="square" lIns="0" rIns="0" tIns="0" bIns="0">
            <a:spAutoFit/>
          </a:bodyPr>
          <a:lstStyle/>
          <a:p>
            <a:pPr algn="r">
              <a:lnSpc>
                <a:spcPct val="115000"/>
              </a:lnSpc>
            </a:pPr>
            <a:r>
              <a:rPr sz="1200" b="0">
                <a:solidFill>
                  <a:srgbClr val="5C5F65"/>
                </a:solidFill>
                <a:latin typeface="Segoe UI"/>
              </a:rPr>
              <a:t>12</a:t>
            </a:r>
          </a:p>
        </p:txBody>
      </p:sp>
      <p:sp>
        <p:nvSpPr>
          <p:cNvPr id="5" name="TextBox 4"/>
          <p:cNvSpPr txBox="1"/>
          <p:nvPr/>
        </p:nvSpPr>
        <p:spPr>
          <a:xfrm>
            <a:off x="685800" y="1691640"/>
            <a:ext cx="1828800" cy="365760"/>
          </a:xfrm>
          <a:prstGeom prst="rect">
            <a:avLst/>
          </a:prstGeom>
          <a:noFill/>
        </p:spPr>
        <p:txBody>
          <a:bodyPr wrap="square" lIns="0" rIns="0" tIns="0" bIns="0">
            <a:spAutoFit/>
          </a:bodyPr>
          <a:lstStyle/>
          <a:p>
            <a:pPr algn="l">
              <a:lnSpc>
                <a:spcPct val="115000"/>
              </a:lnSpc>
            </a:pPr>
            <a:r>
              <a:rPr sz="1350" b="0">
                <a:solidFill>
                  <a:srgbClr val="5C5F65"/>
                </a:solidFill>
                <a:latin typeface="Segoe UI"/>
              </a:rPr>
              <a:t>Download</a:t>
            </a:r>
          </a:p>
        </p:txBody>
      </p:sp>
      <p:sp>
        <p:nvSpPr>
          <p:cNvPr id="6" name="TextBox 5"/>
          <p:cNvSpPr txBox="1"/>
          <p:nvPr/>
        </p:nvSpPr>
        <p:spPr>
          <a:xfrm>
            <a:off x="2468880" y="1645920"/>
            <a:ext cx="8686800" cy="457200"/>
          </a:xfrm>
          <a:prstGeom prst="rect">
            <a:avLst/>
          </a:prstGeom>
          <a:noFill/>
        </p:spPr>
        <p:txBody>
          <a:bodyPr wrap="square" lIns="0" rIns="0" tIns="0" bIns="0">
            <a:spAutoFit/>
          </a:bodyPr>
          <a:lstStyle/>
          <a:p>
            <a:pPr algn="l">
              <a:lnSpc>
                <a:spcPct val="115000"/>
              </a:lnSpc>
            </a:pPr>
            <a:r>
              <a:rPr sz="1800" b="1">
                <a:solidFill>
                  <a:srgbClr val="41B883"/>
                </a:solidFill>
                <a:latin typeface="Consolas"/>
              </a:rPr>
              <a:t>github.com/mochaheree/cuevo-lyrics/releases</a:t>
            </a:r>
          </a:p>
        </p:txBody>
      </p:sp>
      <p:sp>
        <p:nvSpPr>
          <p:cNvPr id="7" name="Rectangle 6"/>
          <p:cNvSpPr/>
          <p:nvPr/>
        </p:nvSpPr>
        <p:spPr>
          <a:xfrm>
            <a:off x="685800" y="2167128"/>
            <a:ext cx="10789920" cy="9525"/>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06040"/>
            <a:ext cx="1828800" cy="365760"/>
          </a:xfrm>
          <a:prstGeom prst="rect">
            <a:avLst/>
          </a:prstGeom>
          <a:noFill/>
        </p:spPr>
        <p:txBody>
          <a:bodyPr wrap="square" lIns="0" rIns="0" tIns="0" bIns="0">
            <a:spAutoFit/>
          </a:bodyPr>
          <a:lstStyle/>
          <a:p>
            <a:pPr algn="l">
              <a:lnSpc>
                <a:spcPct val="115000"/>
              </a:lnSpc>
            </a:pPr>
            <a:r>
              <a:rPr sz="1350" b="0">
                <a:solidFill>
                  <a:srgbClr val="5C5F65"/>
                </a:solidFill>
                <a:latin typeface="Segoe UI"/>
              </a:rPr>
              <a:t>Source</a:t>
            </a:r>
          </a:p>
        </p:txBody>
      </p:sp>
      <p:sp>
        <p:nvSpPr>
          <p:cNvPr id="9" name="TextBox 8"/>
          <p:cNvSpPr txBox="1"/>
          <p:nvPr/>
        </p:nvSpPr>
        <p:spPr>
          <a:xfrm>
            <a:off x="2468880" y="2560320"/>
            <a:ext cx="8686800" cy="457200"/>
          </a:xfrm>
          <a:prstGeom prst="rect">
            <a:avLst/>
          </a:prstGeom>
          <a:noFill/>
        </p:spPr>
        <p:txBody>
          <a:bodyPr wrap="square" lIns="0" rIns="0" tIns="0" bIns="0">
            <a:spAutoFit/>
          </a:bodyPr>
          <a:lstStyle/>
          <a:p>
            <a:pPr algn="l">
              <a:lnSpc>
                <a:spcPct val="115000"/>
              </a:lnSpc>
            </a:pPr>
            <a:r>
              <a:rPr sz="1800" b="1">
                <a:solidFill>
                  <a:srgbClr val="41B883"/>
                </a:solidFill>
                <a:latin typeface="Consolas"/>
              </a:rPr>
              <a:t>github.com/mochaheree/cuevo-lyrics</a:t>
            </a:r>
          </a:p>
        </p:txBody>
      </p:sp>
      <p:sp>
        <p:nvSpPr>
          <p:cNvPr id="10" name="Rectangle 9"/>
          <p:cNvSpPr/>
          <p:nvPr/>
        </p:nvSpPr>
        <p:spPr>
          <a:xfrm>
            <a:off x="685800" y="3081528"/>
            <a:ext cx="10789920" cy="9525"/>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520440"/>
            <a:ext cx="1828800" cy="365760"/>
          </a:xfrm>
          <a:prstGeom prst="rect">
            <a:avLst/>
          </a:prstGeom>
          <a:noFill/>
        </p:spPr>
        <p:txBody>
          <a:bodyPr wrap="square" lIns="0" rIns="0" tIns="0" bIns="0">
            <a:spAutoFit/>
          </a:bodyPr>
          <a:lstStyle/>
          <a:p>
            <a:pPr algn="l">
              <a:lnSpc>
                <a:spcPct val="115000"/>
              </a:lnSpc>
            </a:pPr>
            <a:r>
              <a:rPr sz="1350" b="0">
                <a:solidFill>
                  <a:srgbClr val="5C5F65"/>
                </a:solidFill>
                <a:latin typeface="Segoe UI"/>
              </a:rPr>
              <a:t>Licence</a:t>
            </a:r>
          </a:p>
        </p:txBody>
      </p:sp>
      <p:sp>
        <p:nvSpPr>
          <p:cNvPr id="12" name="TextBox 11"/>
          <p:cNvSpPr txBox="1"/>
          <p:nvPr/>
        </p:nvSpPr>
        <p:spPr>
          <a:xfrm>
            <a:off x="2468880" y="3474720"/>
            <a:ext cx="8686800" cy="457200"/>
          </a:xfrm>
          <a:prstGeom prst="rect">
            <a:avLst/>
          </a:prstGeom>
          <a:noFill/>
        </p:spPr>
        <p:txBody>
          <a:bodyPr wrap="square" lIns="0" rIns="0" tIns="0" bIns="0">
            <a:spAutoFit/>
          </a:bodyPr>
          <a:lstStyle/>
          <a:p>
            <a:pPr algn="l">
              <a:lnSpc>
                <a:spcPct val="115000"/>
              </a:lnSpc>
            </a:pPr>
            <a:r>
              <a:rPr sz="1800" b="1">
                <a:solidFill>
                  <a:srgbClr val="41B883"/>
                </a:solidFill>
                <a:latin typeface="Consolas"/>
              </a:rPr>
              <a:t>MIT</a:t>
            </a:r>
          </a:p>
        </p:txBody>
      </p:sp>
      <p:sp>
        <p:nvSpPr>
          <p:cNvPr id="13" name="Rectangle 12"/>
          <p:cNvSpPr/>
          <p:nvPr/>
        </p:nvSpPr>
        <p:spPr>
          <a:xfrm>
            <a:off x="685800" y="3995928"/>
            <a:ext cx="10789920" cy="9525"/>
          </a:xfrm>
          <a:prstGeom prst="rect">
            <a:avLst/>
          </a:prstGeom>
          <a:solidFill>
            <a:srgbClr val="2E3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349240"/>
            <a:ext cx="10515600" cy="1005840"/>
          </a:xfrm>
          <a:prstGeom prst="rect">
            <a:avLst/>
          </a:prstGeom>
          <a:noFill/>
        </p:spPr>
        <p:txBody>
          <a:bodyPr wrap="square" lIns="0" rIns="0" tIns="0" bIns="0">
            <a:spAutoFit/>
          </a:bodyPr>
          <a:lstStyle/>
          <a:p>
            <a:pPr algn="l">
              <a:lnSpc>
                <a:spcPct val="140000"/>
              </a:lnSpc>
            </a:pPr>
            <a:r>
              <a:rPr sz="1250" b="0">
                <a:solidFill>
                  <a:srgbClr val="5C5F65"/>
                </a:solidFill>
                <a:latin typeface="Segoe UI"/>
              </a:rPr>
              <a:t>Lyrics come from LRCLIB, which is community contributed. This project does not host or claim rights to any lyrics. Check the licensing of anything you put in front of a paying audience.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